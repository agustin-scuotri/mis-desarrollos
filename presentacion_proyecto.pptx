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0" y="0"/>
            <a:ext cx="5788152" cy="685800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772400" y="1097280"/>
            <a:ext cx="3474720" cy="3474720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0" y="146304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0" i="0">
                <a:solidFill>
                  <a:srgbClr val="FFFFFF"/>
                </a:solidFill>
                <a:latin typeface="Calibri"/>
              </a:rPr>
              <a:t>🧾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280160"/>
            <a:ext cx="3108960" cy="34747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3108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SPRING BOOT  •  VAADIN  •  CLAUDE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Sistema de Conversión
de Facturas con 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657600"/>
            <a:ext cx="5669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CBD5E1"/>
                </a:solidFill>
                <a:latin typeface="Calibri"/>
              </a:rPr>
              <a:t>Extracción automática de datos de facturas
mediante Inteligencia Artificial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754880"/>
            <a:ext cx="11064240" cy="25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48920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4748B"/>
                </a:solidFill>
                <a:latin typeface="Calibri"/>
              </a:rPr>
              <a:t>Agustín Scuotri   |   Marzo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20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B82F6"/>
                </a:solidFill>
                <a:latin typeface="Calibri"/>
              </a:rPr>
              <a:t>EL 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85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Procesar facturas manualmente es lento y propenso a errores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1064240" cy="25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920240"/>
            <a:ext cx="3474720" cy="329184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920240"/>
            <a:ext cx="347472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10312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0" i="0">
                <a:solidFill>
                  <a:srgbClr val="FFFFFF"/>
                </a:solidFill>
                <a:latin typeface="Calibri"/>
              </a:rPr>
              <a:t>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88036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Tiempo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291840"/>
            <a:ext cx="3108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BD5E1"/>
                </a:solidFill>
                <a:latin typeface="Calibri"/>
              </a:rPr>
              <a:t>Cargar datos de facturas a mano puede
tomar minutos por documento.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920240"/>
            <a:ext cx="3474720" cy="329184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0" y="1920240"/>
            <a:ext cx="347472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0" y="210312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0" i="0">
                <a:solidFill>
                  <a:srgbClr val="FFFFFF"/>
                </a:solidFill>
                <a:latin typeface="Calibri"/>
              </a:rPr>
              <a:t>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88036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Errores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3291840"/>
            <a:ext cx="3108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BD5E1"/>
                </a:solidFill>
                <a:latin typeface="Calibri"/>
              </a:rPr>
              <a:t>La carga manual genera errores de tipeo,
omisiones y datos inconsistentes.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21040" y="1920240"/>
            <a:ext cx="3474720" cy="329184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21040" y="1920240"/>
            <a:ext cx="347472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0" y="210312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0" i="0">
                <a:solidFill>
                  <a:srgbClr val="FFFFFF"/>
                </a:solidFill>
                <a:latin typeface="Calibri"/>
              </a:rPr>
              <a:t>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288036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Volumen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3291840"/>
            <a:ext cx="3108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BD5E1"/>
                </a:solidFill>
                <a:latin typeface="Calibri"/>
              </a:rPr>
              <a:t>Empresas manejan decenas o cientos
de facturas por mes.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20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  <a:latin typeface="Calibri"/>
              </a:rPr>
              <a:t>LA SOLUCIÓN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85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Automatizar la extracción con Inteligencia Artificial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1064240" cy="25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011680"/>
            <a:ext cx="2468880" cy="292608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2011680"/>
            <a:ext cx="246888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9456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FFFFFF"/>
                </a:solidFill>
                <a:latin typeface="Calibri"/>
              </a:rPr>
              <a:t>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97180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Subir
factura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61188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64748B"/>
                </a:solidFill>
                <a:latin typeface="Calibri"/>
              </a:rPr>
              <a:t>PDF, PNG
o JPG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30632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0B981"/>
                </a:solidFill>
                <a:latin typeface="Calibri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20440" y="2011680"/>
            <a:ext cx="2468880" cy="292608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20440" y="2011680"/>
            <a:ext cx="246888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0" y="219456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FFFFFF"/>
                </a:solidFill>
                <a:latin typeface="Calibri"/>
              </a:rPr>
              <a:t>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97180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Claude AI
procesa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361188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64748B"/>
                </a:solidFill>
                <a:latin typeface="Calibri"/>
              </a:rPr>
              <a:t>Vision API
de Anthropic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30632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0B981"/>
                </a:solidFill>
                <a:latin typeface="Calibri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55080" y="2011680"/>
            <a:ext cx="2468880" cy="292608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55080" y="2011680"/>
            <a:ext cx="246888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219456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FFFFFF"/>
                </a:solidFill>
                <a:latin typeface="Calibri"/>
              </a:rPr>
              <a:t>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297180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JSON
estructurado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61188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64748B"/>
                </a:solidFill>
                <a:latin typeface="Calibri"/>
              </a:rPr>
              <a:t>Datos listos
para usar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0" y="30632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0B981"/>
                </a:solidFill>
                <a:latin typeface="Calibri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89720" y="2011680"/>
            <a:ext cx="2468880" cy="292608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189720" y="2011680"/>
            <a:ext cx="246888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26880" y="219456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FFFFFF"/>
                </a:solidFill>
                <a:latin typeface="Calibri"/>
              </a:rPr>
              <a:t>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0" y="297180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Dashboard
y métricas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0" y="361188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64748B"/>
                </a:solidFill>
                <a:latin typeface="Calibri"/>
              </a:rPr>
              <a:t>Estado y
resultados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5303520"/>
            <a:ext cx="10789920" cy="73152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85800" y="5303520"/>
            <a:ext cx="54864" cy="7315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53492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0B981"/>
                </a:solidFill>
                <a:latin typeface="Calibri"/>
              </a:rPr>
              <a:t>✅  De minutos de carga manual  →  segundos de procesamiento automático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20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B82F6"/>
                </a:solidFill>
                <a:latin typeface="Calibri"/>
              </a:rPr>
              <a:t>TECNOLOGÍAS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85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Stack tecnológico del proyecto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1064240" cy="25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920240"/>
            <a:ext cx="2560320" cy="320040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920240"/>
            <a:ext cx="2560320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10312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FFFFF"/>
                </a:solidFill>
                <a:latin typeface="Calibri"/>
              </a:rPr>
              <a:t>⚙️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889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Spring Boot 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24612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64748B"/>
                </a:solidFill>
                <a:latin typeface="Calibri"/>
              </a:rPr>
              <a:t>Backend / API REST
Java 21 + Maven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0440" y="1920240"/>
            <a:ext cx="2560320" cy="320040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20440" y="1920240"/>
            <a:ext cx="256032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03320" y="210312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FFFFF"/>
                </a:solidFill>
                <a:latin typeface="Calibri"/>
              </a:rPr>
              <a:t>🖥️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27889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Vaadin 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324612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64748B"/>
                </a:solidFill>
                <a:latin typeface="Calibri"/>
              </a:rPr>
              <a:t>Frontend full-stack
Componentes Java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1920240"/>
            <a:ext cx="2560320" cy="320040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55080" y="1920240"/>
            <a:ext cx="256032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60" y="210312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FFFFF"/>
                </a:solidFill>
                <a:latin typeface="Calibri"/>
              </a:rPr>
              <a:t>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27889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Claude Vision API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324612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64748B"/>
                </a:solidFill>
                <a:latin typeface="Calibri"/>
              </a:rPr>
              <a:t>IA de Anthropic
Extracción de texto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89720" y="1920240"/>
            <a:ext cx="2560320" cy="320040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89720" y="1920240"/>
            <a:ext cx="2560320" cy="54864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72600" y="210312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FFFFF"/>
                </a:solidFill>
                <a:latin typeface="Calibri"/>
              </a:rPr>
              <a:t>🗄️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81160" y="27889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PostgreSQL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81160" y="324612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64748B"/>
                </a:solidFill>
                <a:latin typeface="Calibri"/>
              </a:rPr>
              <a:t>Base de datos
relacional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53492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4748B"/>
                </a:solidFill>
                <a:latin typeface="Calibri"/>
              </a:rPr>
              <a:t>También: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737360" y="5303520"/>
            <a:ext cx="2286000" cy="38404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28800" y="532180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B82F6"/>
                </a:solidFill>
                <a:latin typeface="Calibri"/>
              </a:rPr>
              <a:t>Spring Security (auth)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97679" y="5303520"/>
            <a:ext cx="2286000" cy="38404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89119" y="532180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B82F6"/>
                </a:solidFill>
                <a:latin typeface="Calibri"/>
              </a:rPr>
              <a:t>Caffeine Cache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0" y="5303520"/>
            <a:ext cx="2286000" cy="38404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49440" y="532180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B82F6"/>
                </a:solidFill>
                <a:latin typeface="Calibri"/>
              </a:rPr>
              <a:t>Spring WebFlux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418319" y="5303520"/>
            <a:ext cx="2286000" cy="38404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509759" y="532180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B82F6"/>
                </a:solidFill>
                <a:latin typeface="Calibri"/>
              </a:rPr>
              <a:t>JWT Sessions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20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B82F6"/>
                </a:solidFill>
                <a:latin typeface="Calibri"/>
              </a:rPr>
              <a:t>ARQUITECTURA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85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Arquitectura en capas del sistema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1064240" cy="25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737360"/>
            <a:ext cx="10789920" cy="100584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737360"/>
            <a:ext cx="54864" cy="10058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801368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B82F6"/>
                </a:solidFill>
                <a:latin typeface="Calibri"/>
              </a:rPr>
              <a:t>CAPA DE PRESENTACIÓN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176272"/>
            <a:ext cx="10424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BD5E1"/>
                </a:solidFill>
                <a:latin typeface="Calibri"/>
              </a:rPr>
              <a:t>Vaadin Views: Login · Inicio · Conversor · Archivos · Usuarios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76148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907791"/>
            <a:ext cx="10789920" cy="100584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" y="2907791"/>
            <a:ext cx="54864" cy="10058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2971799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Calibri"/>
              </a:rPr>
              <a:t>CAPA DE SERVICIOS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346703"/>
            <a:ext cx="10424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BD5E1"/>
                </a:solidFill>
                <a:latin typeface="Calibri"/>
              </a:rPr>
              <a:t>ArchivoService · DocumentoConvertidoService · ClaudeVisionService · UsuarioService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393191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4078224"/>
            <a:ext cx="10789920" cy="100584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4078224"/>
            <a:ext cx="54864" cy="10058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142232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9E0B"/>
                </a:solidFill>
                <a:latin typeface="Calibri"/>
              </a:rPr>
              <a:t>CAPA DE ACCESO A DATOS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517136"/>
            <a:ext cx="10424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BD5E1"/>
                </a:solidFill>
                <a:latin typeface="Calibri"/>
              </a:rPr>
              <a:t>10 Repositorios JPA · 10 Entidades (Archivo, DocumentoConvertido, Productos…)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52160" y="5102352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248656"/>
            <a:ext cx="10789920" cy="100584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5248656"/>
            <a:ext cx="54864" cy="100584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312664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A78BFA"/>
                </a:solidFill>
                <a:latin typeface="Calibri"/>
              </a:rPr>
              <a:t>BASE DE DATOS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5687568"/>
            <a:ext cx="10424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BD5E1"/>
                </a:solidFill>
                <a:latin typeface="Calibri"/>
              </a:rPr>
              <a:t>PostgreSQL · Hibernate DDL auto-update · Caffeine Cache (30s TTL, 500 items)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86800" y="1691640"/>
            <a:ext cx="2926080" cy="4572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16916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0B981"/>
                </a:solidFill>
                <a:latin typeface="Calibri"/>
              </a:rPr>
              <a:t>☁️  Claude Vision API (Anthropic)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0" y="21488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↕  HTTPS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20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B82F6"/>
                </a:solidFill>
                <a:latin typeface="Calibri"/>
              </a:rPr>
              <a:t>FUNCIONALIDADES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85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¿Qué puede hacer el sistema?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1064240" cy="25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828800"/>
            <a:ext cx="5394960" cy="214884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828800"/>
            <a:ext cx="54864" cy="21488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93852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📤  Gestión de Archivos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331720"/>
            <a:ext cx="5029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CBD5E1"/>
                </a:solidFill>
                <a:latin typeface="Calibri"/>
              </a:rPr>
              <a:t>  •  Subir PDFs, PNG y JPG (hasta 10 MB)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CBD5E1"/>
                </a:solidFill>
                <a:latin typeface="Calibri"/>
              </a:rPr>
              <a:t>  •  Detección de duplicados por hash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CBD5E1"/>
                </a:solidFill>
                <a:latin typeface="Calibri"/>
              </a:rPr>
              <a:t>  •  Estado de conversión: pendiente / procesado / error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828800"/>
            <a:ext cx="5394960" cy="214884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46520" y="1828800"/>
            <a:ext cx="54864" cy="21488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193852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🤖  Conversor 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331720"/>
            <a:ext cx="5029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CBD5E1"/>
                </a:solidFill>
                <a:latin typeface="Calibri"/>
              </a:rPr>
              <a:t>  •  Envía el archivo a Claude Vision API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CBD5E1"/>
                </a:solidFill>
                <a:latin typeface="Calibri"/>
              </a:rPr>
              <a:t>  •  Extrae: emisor, número, fecha, CAE, ítems, impuestos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CBD5E1"/>
                </a:solidFill>
                <a:latin typeface="Calibri"/>
              </a:rPr>
              <a:t>  •  Manejo de errores y rate-limiting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160520"/>
            <a:ext cx="5394960" cy="214884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4160520"/>
            <a:ext cx="54864" cy="21488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27024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📊  Dashboard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663440"/>
            <a:ext cx="5029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CBD5E1"/>
                </a:solidFill>
                <a:latin typeface="Calibri"/>
              </a:rPr>
              <a:t>  •  Métricas en tiempo real: total, procesados, pendientes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CBD5E1"/>
                </a:solidFill>
                <a:latin typeface="Calibri"/>
              </a:rPr>
              <a:t>  •  Gráficos de distribución por estado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CBD5E1"/>
                </a:solidFill>
                <a:latin typeface="Calibri"/>
              </a:rPr>
              <a:t>  •  Filtro por rango de fechas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46520" y="4160520"/>
            <a:ext cx="5394960" cy="214884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46520" y="4160520"/>
            <a:ext cx="54864" cy="21488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29400" y="427024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👥  Usuarios (Admin)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4663440"/>
            <a:ext cx="5029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CBD5E1"/>
                </a:solidFill>
                <a:latin typeface="Calibri"/>
              </a:rPr>
              <a:t>  •  Crear / editar / eliminar usuarios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CBD5E1"/>
                </a:solidFill>
                <a:latin typeface="Calibri"/>
              </a:rPr>
              <a:t>  •  Roles: USER y ADMIN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CBD5E1"/>
                </a:solidFill>
                <a:latin typeface="Calibri"/>
              </a:rPr>
              <a:t>  •  Activar / desactivar cuentas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20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  <a:latin typeface="Calibri"/>
              </a:rPr>
              <a:t>FLUJO DE TRABAJO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85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Cómo se convierte una factura paso a paso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1064240" cy="25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148840" y="2880360"/>
            <a:ext cx="731520" cy="54864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2011680"/>
            <a:ext cx="1097280" cy="10972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103120"/>
            <a:ext cx="1097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F172A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4612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Usuario sube
el archivo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977639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PDF / PNG / JPG
hasta 10 MB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0" y="2880360"/>
            <a:ext cx="731520" cy="54864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200400" y="2011680"/>
            <a:ext cx="1097280" cy="10972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0" y="2103120"/>
            <a:ext cx="1097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F172A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360" y="324612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Sistema valida
y almacena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360" y="3977639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Hash anti-duplicado
PostgreSQL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0" y="2880360"/>
            <a:ext cx="731520" cy="54864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440680" y="2011680"/>
            <a:ext cx="1097280" cy="10972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40680" y="2103120"/>
            <a:ext cx="1097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F172A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0" y="324612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Conversor envía
a Claude AI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640" y="3977639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Base64 + prompt
estructurado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869680" y="2880360"/>
            <a:ext cx="731520" cy="54864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680960" y="2011680"/>
            <a:ext cx="1097280" cy="10972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0" y="2103120"/>
            <a:ext cx="1097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F172A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20" y="324612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Claude devuelve
el JSON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60920" y="3977639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Emisor, ítems,
impuestos, CAE…</a:t>
            </a:r>
          </a:p>
        </p:txBody>
      </p:sp>
      <p:sp>
        <p:nvSpPr>
          <p:cNvPr id="27" name="Oval 26"/>
          <p:cNvSpPr/>
          <p:nvPr/>
        </p:nvSpPr>
        <p:spPr>
          <a:xfrm>
            <a:off x="9921240" y="2011680"/>
            <a:ext cx="1097280" cy="10972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921240" y="2103120"/>
            <a:ext cx="1097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F172A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324612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Sistema persiste
los datos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3977639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10 entidades JPA
relacionadas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5800" y="5029200"/>
            <a:ext cx="10789920" cy="10515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85800" y="5029200"/>
            <a:ext cx="10789920" cy="45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512064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BD5E1"/>
                </a:solidFill>
                <a:latin typeface="Calibri"/>
              </a:rPr>
              <a:t>Resultado: factura disponible en el listado con todos sus datos estructurados, lista para consultar, exportar o integrar con otros sistemas.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20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B82F6"/>
                </a:solidFill>
                <a:latin typeface="Calibri"/>
              </a:rPr>
              <a:t>DATOS EXTRAÍDOS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85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Estructura de datos que genera el sistema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1064240" cy="25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828800"/>
            <a:ext cx="3566160" cy="214884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202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B82F6"/>
                </a:solidFill>
                <a:latin typeface="Calibri"/>
              </a:rPr>
              <a:t>📋 Encabezado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86000"/>
            <a:ext cx="33832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>
                <a:solidFill>
                  <a:srgbClr val="CBD5E1"/>
                </a:solidFill>
                <a:latin typeface="Calibri"/>
              </a:rPr>
              <a:t>  •  Número de factura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CBD5E1"/>
                </a:solidFill>
                <a:latin typeface="Calibri"/>
              </a:rPr>
              <a:t>  •  Tipo (A/B/C)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CBD5E1"/>
                </a:solidFill>
                <a:latin typeface="Calibri"/>
              </a:rPr>
              <a:t>  •  Fecha emisión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CBD5E1"/>
                </a:solidFill>
                <a:latin typeface="Calibri"/>
              </a:rPr>
              <a:t>  •  CAE y vencimiento CAE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26280" y="1828800"/>
            <a:ext cx="3566160" cy="214884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19202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B82F6"/>
                </a:solidFill>
                <a:latin typeface="Calibri"/>
              </a:rPr>
              <a:t>🏢 Emisor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286000"/>
            <a:ext cx="33832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>
                <a:solidFill>
                  <a:srgbClr val="CBD5E1"/>
                </a:solidFill>
                <a:latin typeface="Calibri"/>
              </a:rPr>
              <a:t>  •  CUIT / razón social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CBD5E1"/>
                </a:solidFill>
                <a:latin typeface="Calibri"/>
              </a:rPr>
              <a:t>  •  Dirección fiscal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CBD5E1"/>
                </a:solidFill>
                <a:latin typeface="Calibri"/>
              </a:rPr>
              <a:t>  •  Teléfono / email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CBD5E1"/>
                </a:solidFill>
                <a:latin typeface="Calibri"/>
              </a:rPr>
              <a:t>  •  Condición IVA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366760" y="1828800"/>
            <a:ext cx="3566160" cy="214884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0" y="19202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B82F6"/>
                </a:solidFill>
                <a:latin typeface="Calibri"/>
              </a:rPr>
              <a:t>🛒 Ítems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200" y="2286000"/>
            <a:ext cx="33832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>
                <a:solidFill>
                  <a:srgbClr val="CBD5E1"/>
                </a:solidFill>
                <a:latin typeface="Calibri"/>
              </a:rPr>
              <a:t>  •  Código y descripción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CBD5E1"/>
                </a:solidFill>
                <a:latin typeface="Calibri"/>
              </a:rPr>
              <a:t>  •  Cantidad y unidad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CBD5E1"/>
                </a:solidFill>
                <a:latin typeface="Calibri"/>
              </a:rPr>
              <a:t>  •  Precio unitario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CBD5E1"/>
                </a:solidFill>
                <a:latin typeface="Calibri"/>
              </a:rPr>
              <a:t>  •  Subtotales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160520"/>
            <a:ext cx="3566160" cy="214884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2519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B82F6"/>
                </a:solidFill>
                <a:latin typeface="Calibri"/>
              </a:rPr>
              <a:t>💰 Impuestos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17720"/>
            <a:ext cx="33832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>
                <a:solidFill>
                  <a:srgbClr val="CBD5E1"/>
                </a:solidFill>
                <a:latin typeface="Calibri"/>
              </a:rPr>
              <a:t>  •  IVA por alícuota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CBD5E1"/>
                </a:solidFill>
                <a:latin typeface="Calibri"/>
              </a:rPr>
              <a:t>  •  Percepciones IIBB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CBD5E1"/>
                </a:solidFill>
                <a:latin typeface="Calibri"/>
              </a:rPr>
              <a:t>  •  Percepciones IVA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CBD5E1"/>
                </a:solidFill>
                <a:latin typeface="Calibri"/>
              </a:rPr>
              <a:t>  •  Descuentos/recargos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26280" y="4160520"/>
            <a:ext cx="3566160" cy="214884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63440" y="42519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B82F6"/>
                </a:solidFill>
                <a:latin typeface="Calibri"/>
              </a:rPr>
              <a:t>📆 Vencimientos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4617720"/>
            <a:ext cx="33832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>
                <a:solidFill>
                  <a:srgbClr val="CBD5E1"/>
                </a:solidFill>
                <a:latin typeface="Calibri"/>
              </a:rPr>
              <a:t>  •  Fecha de pago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CBD5E1"/>
                </a:solidFill>
                <a:latin typeface="Calibri"/>
              </a:rPr>
              <a:t>  •  Monto por cuota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CBD5E1"/>
                </a:solidFill>
                <a:latin typeface="Calibri"/>
              </a:rPr>
              <a:t>  •  Moneda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CBD5E1"/>
                </a:solidFill>
                <a:latin typeface="Calibri"/>
              </a:rPr>
              <a:t>  •  Condición de pago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66760" y="4160520"/>
            <a:ext cx="3566160" cy="214884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0" y="42519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B82F6"/>
                </a:solidFill>
                <a:latin typeface="Calibri"/>
              </a:rPr>
              <a:t>🔢 Totales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200" y="4617720"/>
            <a:ext cx="33832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>
                <a:solidFill>
                  <a:srgbClr val="CBD5E1"/>
                </a:solidFill>
                <a:latin typeface="Calibri"/>
              </a:rPr>
              <a:t>  •  Neto gravado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CBD5E1"/>
                </a:solidFill>
                <a:latin typeface="Calibri"/>
              </a:rPr>
              <a:t>  •  IVA total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CBD5E1"/>
                </a:solidFill>
                <a:latin typeface="Calibri"/>
              </a:rPr>
              <a:t>  •  Percepciones totales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CBD5E1"/>
                </a:solidFill>
                <a:latin typeface="Calibri"/>
              </a:rPr>
              <a:t>  •  Total final factura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20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B82F6"/>
                </a:solidFill>
                <a:latin typeface="Calibri"/>
              </a:rPr>
              <a:t>INTERFAZ DE USUARIO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85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Pantallas principales de la aplicación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1064240" cy="25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828800"/>
            <a:ext cx="3566160" cy="21945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828800"/>
            <a:ext cx="3566160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2011680"/>
            <a:ext cx="3291840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1488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3B82F6"/>
                </a:solidFill>
                <a:latin typeface="Calibri"/>
              </a:rPr>
              <a:t>🔐 Login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10896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Autenticación con usuario y contraseña.
Protegido con Spring Security.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26280" y="1828800"/>
            <a:ext cx="3566160" cy="21945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26280" y="1828800"/>
            <a:ext cx="3566160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63440" y="2011680"/>
            <a:ext cx="3291840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3440" y="21488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3B82F6"/>
                </a:solidFill>
                <a:latin typeface="Calibri"/>
              </a:rPr>
              <a:t>📊 Dashboard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310896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Métricas en tiempo real: total, procesados,
pendientes y errores. Gráficos de barras.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66760" y="1828800"/>
            <a:ext cx="3566160" cy="21945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66760" y="1828800"/>
            <a:ext cx="3566160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03920" y="2011680"/>
            <a:ext cx="3291840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0" y="21488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3B82F6"/>
                </a:solidFill>
                <a:latin typeface="Calibri"/>
              </a:rPr>
              <a:t>📤 Archivos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310896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Subida y gestión de documentos. Estado
de conversión visible en la grilla.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4206240"/>
            <a:ext cx="3566160" cy="21945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5800" y="4206240"/>
            <a:ext cx="3566160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2960" y="4389120"/>
            <a:ext cx="3291840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5262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3B82F6"/>
                </a:solidFill>
                <a:latin typeface="Calibri"/>
              </a:rPr>
              <a:t>🤖 Conversor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548640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Selección de archivo → envío a Claude AI
→ visualización del JSON extraído.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26280" y="4206240"/>
            <a:ext cx="3566160" cy="21945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26280" y="4206240"/>
            <a:ext cx="3566160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663440" y="4389120"/>
            <a:ext cx="3291840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63440" y="45262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3B82F6"/>
                </a:solidFill>
                <a:latin typeface="Calibri"/>
              </a:rPr>
              <a:t>📋 Lista de JSONs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17720" y="548640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Detalle completo de cada factura con todos
sus campos y relaciones.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366760" y="4206240"/>
            <a:ext cx="3566160" cy="21945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366760" y="4206240"/>
            <a:ext cx="3566160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503920" y="4389120"/>
            <a:ext cx="3291840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03920" y="45262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3B82F6"/>
                </a:solidFill>
                <a:latin typeface="Calibri"/>
              </a:rPr>
              <a:t>👥 Usuarios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58200" y="548640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ABM de usuarios (solo ADMIN). Asignación
de roles y activación de cuentas.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20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DECISIONES TÉCNICAS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85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Por qué elegí cada tecnología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1064240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828800"/>
            <a:ext cx="10789920" cy="841248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828800"/>
            <a:ext cx="54864" cy="84124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883664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Calibri"/>
              </a:rPr>
              <a:t>Vaadin 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1883664"/>
            <a:ext cx="80467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  <a:latin typeface="Calibri"/>
              </a:rPr>
              <a:t>Frontend en Java puro, sin necesidad de mantener un proyecto separado React/Angular. Todo el código en el mismo repositorio.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761488"/>
            <a:ext cx="10789920" cy="841248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2761488"/>
            <a:ext cx="54864" cy="84124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81635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Calibri"/>
              </a:rPr>
              <a:t>Claude Vision API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2816352"/>
            <a:ext cx="80467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  <a:latin typeface="Calibri"/>
              </a:rPr>
              <a:t>Capacidad multimodal para interpretar tanto texto como imágenes escaneadas. Permite un prompt estructurado que garantiza salida JSON consistente.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3694176"/>
            <a:ext cx="10789920" cy="841248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3694176"/>
            <a:ext cx="54864" cy="84124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37490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Calibri"/>
              </a:rPr>
              <a:t>Caffeine Cache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3749040"/>
            <a:ext cx="80467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  <a:latin typeface="Calibri"/>
              </a:rPr>
              <a:t>Reduce las consultas repetidas a la base de datos en operaciones de lectura frecuentes (listados, conteos). TTL de 30 segundos.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626864"/>
            <a:ext cx="10789920" cy="841248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" y="4626864"/>
            <a:ext cx="54864" cy="84124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468172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Calibri"/>
              </a:rPr>
              <a:t>Hash de contenido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4681728"/>
            <a:ext cx="80467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  <a:latin typeface="Calibri"/>
              </a:rPr>
              <a:t>Detección de duplicados al momento de la subida sin comparar byte a byte en la DB. Evita procesamiento doble de la misma factura.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5559552"/>
            <a:ext cx="10789920" cy="841248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2960" y="5559552"/>
            <a:ext cx="54864" cy="84124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614416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Calibri"/>
              </a:rPr>
              <a:t>Roles USER / ADMIN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83280" y="5614416"/>
            <a:ext cx="80467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  <a:latin typeface="Calibri"/>
              </a:rPr>
              <a:t>Separación de responsabilidades: solo el admin gestiona usuarios. Escalable a más roles en el futuro.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20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  <a:latin typeface="Calibri"/>
              </a:rPr>
              <a:t>PRÓXIMOS PASOS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85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Mejoras y funcionalidades planificadas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1064240" cy="25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8288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B981"/>
                </a:solidFill>
                <a:latin typeface="Calibri"/>
              </a:rPr>
              <a:t>Funcionales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24028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CBD5E1"/>
                </a:solidFill>
                <a:latin typeface="Calibri"/>
              </a:rPr>
              <a:t>  •  Exportar facturas a Excel / CSV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CBD5E1"/>
                </a:solidFill>
                <a:latin typeface="Calibri"/>
              </a:rPr>
              <a:t>  •  API REST para integración con otros sistemas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CBD5E1"/>
                </a:solidFill>
                <a:latin typeface="Calibri"/>
              </a:rPr>
              <a:t>  •  Procesamiento por lote (múltiples archivos)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CBD5E1"/>
                </a:solidFill>
                <a:latin typeface="Calibri"/>
              </a:rPr>
              <a:t>  •  Notificaciones por email al completar conversión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82880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B981"/>
                </a:solidFill>
                <a:latin typeface="Calibri"/>
              </a:rPr>
              <a:t>Técnicas / Infraestructura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2240280"/>
            <a:ext cx="5394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CBD5E1"/>
                </a:solidFill>
                <a:latin typeface="Calibri"/>
              </a:rPr>
              <a:t>  •  Soporte multi-empresa / multi-tenant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CBD5E1"/>
                </a:solidFill>
                <a:latin typeface="Calibri"/>
              </a:rPr>
              <a:t>  •  Auditoría de cambios (log de acciones)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CBD5E1"/>
                </a:solidFill>
                <a:latin typeface="Calibri"/>
              </a:rPr>
              <a:t>  •  Mejoras en el parsing de facturas complejas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CBD5E1"/>
                </a:solidFill>
                <a:latin typeface="Calibri"/>
              </a:rPr>
              <a:t>  •  Despliegue en la nube (Docker + CI/CD)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5212080"/>
            <a:ext cx="11064240" cy="254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349240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64748B"/>
                </a:solidFill>
                <a:latin typeface="Calibri"/>
              </a:rPr>
              <a:t>El sistema ya funciona end-to-end. El foco de los próximos sprints es robustez, integración y escalabilidad.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0" y="0"/>
            <a:ext cx="5788152" cy="685800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0" y="1371600"/>
            <a:ext cx="2926080" cy="2926080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78240" y="1737360"/>
            <a:ext cx="16459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0" i="0">
                <a:solidFill>
                  <a:srgbClr val="FFFFFF"/>
                </a:solidFill>
                <a:latin typeface="Calibri"/>
              </a:rPr>
              <a:t>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37160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Calibri"/>
              </a:rPr>
              <a:t>GRACIAS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68880"/>
            <a:ext cx="11064240" cy="25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65176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CBD5E1"/>
                </a:solidFill>
                <a:latin typeface="Calibri"/>
              </a:rPr>
              <a:t>Sistema de Conversión de Facturas con 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24612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  <a:latin typeface="Calibri"/>
              </a:rPr>
              <a:t>Spring Boot 4  ·  Vaadin 25  ·  Claude Vision API  ·  PostgreSQL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931920"/>
            <a:ext cx="11064240" cy="254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1148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4748B"/>
                </a:solidFill>
                <a:latin typeface="Calibri"/>
              </a:rPr>
              <a:t>Agustín Scuotri   |   Marzo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937760"/>
            <a:ext cx="5303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B82F6"/>
                </a:solidFill>
                <a:latin typeface="Calibri"/>
              </a:rPr>
              <a:t>¿Preguntas?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