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0" y="0"/>
            <a:ext cx="5788152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0" y="1097280"/>
            <a:ext cx="3474720" cy="347472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146304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FFFFFF"/>
                </a:solidFill>
                <a:latin typeface="Calibri"/>
              </a:rPr>
              <a:t>🧾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3108960" cy="3474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SPRING BOOT  •  VAADIN  •  CLAUDE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37360"/>
            <a:ext cx="5669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Sistema de Conversión
de Facturas con 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57600"/>
            <a:ext cx="5669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  <a:latin typeface="Calibri"/>
              </a:rPr>
              <a:t>Extracción automática de datos de facturas
mediante Inteligencia Artificial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754880"/>
            <a:ext cx="11064240" cy="25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892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Agustín Scuotri   |   Marzo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  <a:latin typeface="Calibri"/>
              </a:rPr>
              <a:t>EL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Procesar facturas manualmente es lento y propenso a errores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1064240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920240"/>
            <a:ext cx="3474720" cy="32918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920240"/>
            <a:ext cx="34747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Calibri"/>
              </a:rPr>
              <a:t>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803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Tiempo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9184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Calibri"/>
              </a:rPr>
              <a:t>Cargar datos de facturas a mano puede
tomar minutos por documento.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920240"/>
            <a:ext cx="3474720" cy="32918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1920240"/>
            <a:ext cx="34747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21031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Calibri"/>
              </a:rPr>
              <a:t>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8803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Errores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29184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Calibri"/>
              </a:rPr>
              <a:t>La carga manual genera errores de tipeo,
omisiones y datos inconsistentes.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1920240"/>
            <a:ext cx="3474720" cy="32918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1040" y="1920240"/>
            <a:ext cx="34747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21031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Calibri"/>
              </a:rPr>
              <a:t>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8803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Volumen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29184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Calibri"/>
              </a:rPr>
              <a:t>Empresas manejan decenas o cientos
de facturas por 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LA SOLUCIÓN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Automatizar la extracción con Inteligencia Artificial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1064240" cy="25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011680"/>
            <a:ext cx="2468880" cy="29260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011680"/>
            <a:ext cx="24688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Calibri"/>
              </a:rPr>
              <a:t>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718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Subir
factura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118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PDF, PNG
o JPG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063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20440" y="2011680"/>
            <a:ext cx="2468880" cy="29260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2011680"/>
            <a:ext cx="24688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21945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9718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Claude AI
procesa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6118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Vision API
de Anthropic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3063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2011680"/>
            <a:ext cx="2468880" cy="29260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2011680"/>
            <a:ext cx="24688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1945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9718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JSON
estructurado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6118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Datos listos
para usar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3063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89720" y="2011680"/>
            <a:ext cx="2468880" cy="29260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89720" y="2011680"/>
            <a:ext cx="24688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0" y="21945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29718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Dashboard
y métricas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36118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Estado y
resultados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5303520"/>
            <a:ext cx="10789920" cy="7315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5303520"/>
            <a:ext cx="54864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349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  <a:latin typeface="Calibri"/>
              </a:rPr>
              <a:t>✅  De minutos de carga manual  →  segundos de procesamiento automático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  <a:latin typeface="Calibri"/>
              </a:rPr>
              <a:t>TECNOLOGÍAS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Stack tecnológico del proyecto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1064240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920240"/>
            <a:ext cx="2560320" cy="32004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920240"/>
            <a:ext cx="25603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031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"/>
              </a:rPr>
              <a:t>⚙️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88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Spring Boot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461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Backend / API REST
Java 21 + Maven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20440" y="1920240"/>
            <a:ext cx="2560320" cy="32004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20440" y="1920240"/>
            <a:ext cx="25603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21031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"/>
              </a:rPr>
              <a:t>🖥️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788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Vaadin 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32461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Frontend full-stack
Componentes Java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1920240"/>
            <a:ext cx="2560320" cy="32004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1920240"/>
            <a:ext cx="25603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21031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788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Claude Vision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2461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IA de Anthropic
Extracción de texto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89720" y="1920240"/>
            <a:ext cx="2560320" cy="32004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89720" y="1920240"/>
            <a:ext cx="256032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72600" y="21031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"/>
              </a:rPr>
              <a:t>🗄️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2788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PostgreSQL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32461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Base de datos
relacional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349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  <a:latin typeface="Calibri"/>
              </a:rPr>
              <a:t>También: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37360" y="5303520"/>
            <a:ext cx="2286000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28800" y="532180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B82F6"/>
                </a:solidFill>
                <a:latin typeface="Calibri"/>
              </a:rPr>
              <a:t>Spring Security (auth)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79" y="5303520"/>
            <a:ext cx="2286000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19" y="532180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B82F6"/>
                </a:solidFill>
                <a:latin typeface="Calibri"/>
              </a:rPr>
              <a:t>Caffeine Cache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5303520"/>
            <a:ext cx="2286000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0" y="532180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B82F6"/>
                </a:solidFill>
                <a:latin typeface="Calibri"/>
              </a:rPr>
              <a:t>Spring WebFlux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18319" y="5303520"/>
            <a:ext cx="2286000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9759" y="532180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B82F6"/>
                </a:solidFill>
                <a:latin typeface="Calibri"/>
              </a:rPr>
              <a:t>JWT Sessions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  <a:latin typeface="Calibri"/>
              </a:rPr>
              <a:t>ARQUITECTURA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Arquitectura en capas del sistema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1064240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37360"/>
            <a:ext cx="10789920" cy="10058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737360"/>
            <a:ext cx="54864" cy="10058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0136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  <a:latin typeface="Calibri"/>
              </a:rPr>
              <a:t>CAPA DE PRESENTACIÓN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76272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Vaadin Views: Login · Inicio · Conversor · Archivos · Usuarios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7614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907791"/>
            <a:ext cx="10789920" cy="10058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2907791"/>
            <a:ext cx="54864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971799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CAPA DE SERVICIOS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346703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ArchivoService · DocumentoConvertidoService · ClaudeVisionService · UsuarioService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393191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078224"/>
            <a:ext cx="10789920" cy="10058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4078224"/>
            <a:ext cx="54864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14223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CAPA DE ACCESO A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517136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10 Repositorios JPA · 10 Entidades (Archivo, DocumentoConvertido, Productos…)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51023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5248656"/>
            <a:ext cx="10789920" cy="10058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5248656"/>
            <a:ext cx="54864" cy="10058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31266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Calibri"/>
              </a:rPr>
              <a:t>BASE DE DATOS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687568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PostgreSQL · Hibernate DDL auto-update · Caffeine Cache (30s TTL, 500 items)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0" y="1691640"/>
            <a:ext cx="292608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1691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  <a:latin typeface="Calibri"/>
              </a:rPr>
              <a:t>☁️  Claude Vision API (Anthropic)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21488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↕  HTTPS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  <a:latin typeface="Calibri"/>
              </a:rPr>
              <a:t>FUNCIONALIDADES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¿Qué puede hacer el sistema?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1064240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5394960" cy="21488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54864" cy="21488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3852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📤  Gestión de Archivos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3172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CBD5E1"/>
                </a:solidFill>
                <a:latin typeface="Calibri"/>
              </a:rPr>
              <a:t>  •  Subir PDFs, PNG y JPG (hasta 10 MB)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BD5E1"/>
                </a:solidFill>
                <a:latin typeface="Calibri"/>
              </a:rPr>
              <a:t>  •  Detección de duplicados por hash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BD5E1"/>
                </a:solidFill>
                <a:latin typeface="Calibri"/>
              </a:rPr>
              <a:t>  •  Estado de conversión: pendiente / procesado / error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1828800"/>
            <a:ext cx="5394960" cy="21488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46520" y="1828800"/>
            <a:ext cx="54864" cy="21488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93852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🤖  Conversor 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33172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CBD5E1"/>
                </a:solidFill>
                <a:latin typeface="Calibri"/>
              </a:rPr>
              <a:t>  •  Envía el archivo a Claude Vision API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BD5E1"/>
                </a:solidFill>
                <a:latin typeface="Calibri"/>
              </a:rPr>
              <a:t>  •  Extrae: emisor, número, fecha, CAE, ítems, impuestos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BD5E1"/>
                </a:solidFill>
                <a:latin typeface="Calibri"/>
              </a:rPr>
              <a:t>  •  Manejo de errores y rate-limiting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160520"/>
            <a:ext cx="5394960" cy="21488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160520"/>
            <a:ext cx="54864" cy="21488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2702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📊 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66344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CBD5E1"/>
                </a:solidFill>
                <a:latin typeface="Calibri"/>
              </a:rPr>
              <a:t>  •  Métricas en tiempo real: total, procesados, pendientes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BD5E1"/>
                </a:solidFill>
                <a:latin typeface="Calibri"/>
              </a:rPr>
              <a:t>  •  Gráficos de distribución por estado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BD5E1"/>
                </a:solidFill>
                <a:latin typeface="Calibri"/>
              </a:rPr>
              <a:t>  •  Filtro por rango de fechas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4160520"/>
            <a:ext cx="5394960" cy="21488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46520" y="4160520"/>
            <a:ext cx="54864" cy="21488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42702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👥  Usuarios (Admin)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466344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CBD5E1"/>
                </a:solidFill>
                <a:latin typeface="Calibri"/>
              </a:rPr>
              <a:t>  •  Crear / editar / eliminar usuarios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BD5E1"/>
                </a:solidFill>
                <a:latin typeface="Calibri"/>
              </a:rPr>
              <a:t>  •  Roles: USER y ADMIN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BD5E1"/>
                </a:solidFill>
                <a:latin typeface="Calibri"/>
              </a:rPr>
              <a:t>  •  Activar / desactivar cuentas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FLUJO DE TRABAJO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Cómo se convierte una factura paso a paso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1064240" cy="25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48840" y="2880360"/>
            <a:ext cx="731520" cy="5486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011680"/>
            <a:ext cx="1097280" cy="10972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10312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F172A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461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Usuario sube
el archivo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77639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PDF / PNG / JPG
hasta 10 MB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2880360"/>
            <a:ext cx="731520" cy="5486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00400" y="2011680"/>
            <a:ext cx="1097280" cy="10972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210312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F172A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32461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Sistema valida
y almacena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3977639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Hash anti-duplicado
PostgreSQL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9400" y="2880360"/>
            <a:ext cx="731520" cy="5486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440680" y="2011680"/>
            <a:ext cx="1097280" cy="10972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40680" y="210312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F172A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32461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Conversor envía
a Claude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977639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Base64 + prompt
estructurado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69680" y="2880360"/>
            <a:ext cx="731520" cy="5486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80960" y="2011680"/>
            <a:ext cx="1097280" cy="10972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0" y="210312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F172A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32461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Claude devuelve
el JSON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3977639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Emisor, ítems,
impuestos, CAE…</a:t>
            </a:r>
          </a:p>
        </p:txBody>
      </p:sp>
      <p:sp>
        <p:nvSpPr>
          <p:cNvPr id="27" name="Oval 26"/>
          <p:cNvSpPr/>
          <p:nvPr/>
        </p:nvSpPr>
        <p:spPr>
          <a:xfrm>
            <a:off x="9921240" y="2011680"/>
            <a:ext cx="1097280" cy="10972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21240" y="210312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F172A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32461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Sistema persiste
los datos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3977639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10 entidades JPA
relacionadas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5029200"/>
            <a:ext cx="10789920" cy="10515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" y="5029200"/>
            <a:ext cx="1078992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12064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Calibri"/>
              </a:rPr>
              <a:t>Resultado: factura disponible en el listado con todos sus datos estructurados, lista para consultar, exportar o integrar con otros sistemas.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  <a:latin typeface="Calibri"/>
              </a:rPr>
              <a:t>DATOS EXTRAÍDOS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Estructura de datos que genera el sistema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1064240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3566160" cy="21488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📋 Encabezado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3383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CBD5E1"/>
                </a:solidFill>
                <a:latin typeface="Calibri"/>
              </a:rPr>
              <a:t>  •  Número de factura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BD5E1"/>
                </a:solidFill>
                <a:latin typeface="Calibri"/>
              </a:rPr>
              <a:t>  •  Tipo (A/B/C)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BD5E1"/>
                </a:solidFill>
                <a:latin typeface="Calibri"/>
              </a:rPr>
              <a:t>  •  Fecha emisión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BD5E1"/>
                </a:solidFill>
                <a:latin typeface="Calibri"/>
              </a:rPr>
              <a:t>  •  CAE y vencimiento CAE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26280" y="1828800"/>
            <a:ext cx="3566160" cy="21488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920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🏢 Emisor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286000"/>
            <a:ext cx="3383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CBD5E1"/>
                </a:solidFill>
                <a:latin typeface="Calibri"/>
              </a:rPr>
              <a:t>  •  CUIT / razón social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BD5E1"/>
                </a:solidFill>
                <a:latin typeface="Calibri"/>
              </a:rPr>
              <a:t>  •  Dirección fiscal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BD5E1"/>
                </a:solidFill>
                <a:latin typeface="Calibri"/>
              </a:rPr>
              <a:t>  •  Teléfono / email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BD5E1"/>
                </a:solidFill>
                <a:latin typeface="Calibri"/>
              </a:rPr>
              <a:t>  •  Condición IVA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6760" y="1828800"/>
            <a:ext cx="3566160" cy="21488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1920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🛒 Ítems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286000"/>
            <a:ext cx="3383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CBD5E1"/>
                </a:solidFill>
                <a:latin typeface="Calibri"/>
              </a:rPr>
              <a:t>  •  Código y descripción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BD5E1"/>
                </a:solidFill>
                <a:latin typeface="Calibri"/>
              </a:rPr>
              <a:t>  •  Cantidad y unidad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BD5E1"/>
                </a:solidFill>
                <a:latin typeface="Calibri"/>
              </a:rPr>
              <a:t>  •  Precio unitario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BD5E1"/>
                </a:solidFill>
                <a:latin typeface="Calibri"/>
              </a:rPr>
              <a:t>  •  Subtotales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160520"/>
            <a:ext cx="3566160" cy="21488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2519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💰 Impuestos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17720"/>
            <a:ext cx="3383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CBD5E1"/>
                </a:solidFill>
                <a:latin typeface="Calibri"/>
              </a:rPr>
              <a:t>  •  IVA por alícuota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BD5E1"/>
                </a:solidFill>
                <a:latin typeface="Calibri"/>
              </a:rPr>
              <a:t>  •  Percepciones IIBB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BD5E1"/>
                </a:solidFill>
                <a:latin typeface="Calibri"/>
              </a:rPr>
              <a:t>  •  Percepciones IVA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BD5E1"/>
                </a:solidFill>
                <a:latin typeface="Calibri"/>
              </a:rPr>
              <a:t>  •  Descuentos/recargos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26280" y="4160520"/>
            <a:ext cx="3566160" cy="21488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42519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📆 Vencimientos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4617720"/>
            <a:ext cx="3383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CBD5E1"/>
                </a:solidFill>
                <a:latin typeface="Calibri"/>
              </a:rPr>
              <a:t>  •  Fecha de pago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BD5E1"/>
                </a:solidFill>
                <a:latin typeface="Calibri"/>
              </a:rPr>
              <a:t>  •  Monto por cuota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BD5E1"/>
                </a:solidFill>
                <a:latin typeface="Calibri"/>
              </a:rPr>
              <a:t>  •  Moneda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BD5E1"/>
                </a:solidFill>
                <a:latin typeface="Calibri"/>
              </a:rPr>
              <a:t>  •  Condición de pago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66760" y="4160520"/>
            <a:ext cx="3566160" cy="21488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42519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🔢 Totales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4617720"/>
            <a:ext cx="3383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CBD5E1"/>
                </a:solidFill>
                <a:latin typeface="Calibri"/>
              </a:rPr>
              <a:t>  •  Neto gravado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BD5E1"/>
                </a:solidFill>
                <a:latin typeface="Calibri"/>
              </a:rPr>
              <a:t>  •  IVA total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BD5E1"/>
                </a:solidFill>
                <a:latin typeface="Calibri"/>
              </a:rPr>
              <a:t>  •  Percepciones totales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BD5E1"/>
                </a:solidFill>
                <a:latin typeface="Calibri"/>
              </a:rPr>
              <a:t>  •  Total final factura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  <a:latin typeface="Calibri"/>
              </a:rPr>
              <a:t>INTERFAZ DE USUARIO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Pantallas principales de la aplicación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1064240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3566160" cy="21945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35661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011680"/>
            <a:ext cx="329184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48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B82F6"/>
                </a:solidFill>
                <a:latin typeface="Calibri"/>
              </a:rPr>
              <a:t>🔐 Login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0896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Autenticación con usuario y contraseña.
Protegido con Spring Security.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26280" y="1828800"/>
            <a:ext cx="3566160" cy="21945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26280" y="1828800"/>
            <a:ext cx="35661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63440" y="2011680"/>
            <a:ext cx="329184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148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B82F6"/>
                </a:solidFill>
                <a:latin typeface="Calibri"/>
              </a:rPr>
              <a:t>📊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10896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Métricas en tiempo real: total, procesados,
pendientes y errores. Gráficos de barras.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66760" y="1828800"/>
            <a:ext cx="3566160" cy="21945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66760" y="1828800"/>
            <a:ext cx="35661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03920" y="2011680"/>
            <a:ext cx="329184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2148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B82F6"/>
                </a:solidFill>
                <a:latin typeface="Calibri"/>
              </a:rPr>
              <a:t>📤 Archivos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10896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Subida y gestión de documentos. Estado
de conversión visible en la grilla.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4206240"/>
            <a:ext cx="3566160" cy="21945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4206240"/>
            <a:ext cx="35661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4389120"/>
            <a:ext cx="329184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526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B82F6"/>
                </a:solidFill>
                <a:latin typeface="Calibri"/>
              </a:rPr>
              <a:t>🤖 Conversor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48640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Selección de archivo → envío a Claude AI
→ visualización del JSON extraído.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26280" y="4206240"/>
            <a:ext cx="3566160" cy="21945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26280" y="4206240"/>
            <a:ext cx="35661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663440" y="4389120"/>
            <a:ext cx="329184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40" y="4526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B82F6"/>
                </a:solidFill>
                <a:latin typeface="Calibri"/>
              </a:rPr>
              <a:t>📋 Lista de JSONs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548640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Detalle completo de cada factura con todos
sus campos y relaciones.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66760" y="4206240"/>
            <a:ext cx="3566160" cy="21945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366760" y="4206240"/>
            <a:ext cx="35661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3920" y="4389120"/>
            <a:ext cx="329184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03920" y="4526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B82F6"/>
                </a:solidFill>
                <a:latin typeface="Calibri"/>
              </a:rPr>
              <a:t>👥 Usuarios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58200" y="548640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ABM de usuarios (solo ADMIN). Asignación
de roles y activación de cuentas.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DECISIONES TÉCNICAS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Por qué elegí cada tecnología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1064240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828800"/>
            <a:ext cx="10789920" cy="841248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828800"/>
            <a:ext cx="54864" cy="8412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8366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Vaadin 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883664"/>
            <a:ext cx="8046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Frontend en Java puro, sin necesidad de mantener un proyecto separado React/Angular. Todo el código en el mismo repositorio.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761488"/>
            <a:ext cx="10789920" cy="841248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2761488"/>
            <a:ext cx="54864" cy="8412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8163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Claude Vision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816352"/>
            <a:ext cx="8046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Capacidad multimodal para interpretar tanto texto como imágenes escaneadas. Permite un prompt estructurado que garantiza salida JSON consistente.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694176"/>
            <a:ext cx="10789920" cy="841248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3694176"/>
            <a:ext cx="54864" cy="8412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749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Caffeine Cache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749040"/>
            <a:ext cx="8046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Reduce las consultas repetidas a la base de datos en operaciones de lectura frecuentes (listados, conteos). TTL de 30 segundos.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626864"/>
            <a:ext cx="10789920" cy="841248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4626864"/>
            <a:ext cx="54864" cy="8412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6817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Hash de contenido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4681728"/>
            <a:ext cx="8046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Detección de duplicados al momento de la subida sin comparar byte a byte en la DB. Evita procesamiento doble de la misma factura.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5559552"/>
            <a:ext cx="10789920" cy="841248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5559552"/>
            <a:ext cx="54864" cy="8412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61441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Roles USER / ADMIN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5614416"/>
            <a:ext cx="8046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Separación de responsabilidades: solo el admin gestiona usuarios. Escalable a más roles en el futuro.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PRÓXIMOS PASOS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Mejoras y funcionalidades planificadas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1064240" cy="25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Funcionales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  <a:latin typeface="Calibri"/>
              </a:rPr>
              <a:t>  •  Exportar facturas a Excel / CSV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  <a:latin typeface="Calibri"/>
              </a:rPr>
              <a:t>  •  API REST para integración con otros sistemas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  <a:latin typeface="Calibri"/>
              </a:rPr>
              <a:t>  •  Procesamiento por lote (múltiples archivos)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  <a:latin typeface="Calibri"/>
              </a:rPr>
              <a:t>  •  Notificaciones por email al completar conversión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8288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Técnicas / Infraestructura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240280"/>
            <a:ext cx="5394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  <a:latin typeface="Calibri"/>
              </a:rPr>
              <a:t>  •  Soporte multi-empresa / multi-tenant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  <a:latin typeface="Calibri"/>
              </a:rPr>
              <a:t>  •  Auditoría de cambios (log de acciones)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  <a:latin typeface="Calibri"/>
              </a:rPr>
              <a:t>  •  Mejoras en el parsing de facturas complejas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  <a:latin typeface="Calibri"/>
              </a:rPr>
              <a:t>  •  Despliegue en la nube (Docker + CI/CD)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212080"/>
            <a:ext cx="11064240" cy="25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3492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"/>
              </a:rPr>
              <a:t>El sistema ya funciona end-to-end. El foco de los próximos sprints es robustez, integración y escalabilidad.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0" y="0"/>
            <a:ext cx="5788152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0" y="1371600"/>
            <a:ext cx="2926080" cy="292608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173736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 i="0">
                <a:solidFill>
                  <a:srgbClr val="FFFFFF"/>
                </a:solidFill>
                <a:latin typeface="Calibri"/>
              </a:rPr>
              <a:t>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716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GRACIAS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68880"/>
            <a:ext cx="11064240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517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BD5E1"/>
                </a:solidFill>
                <a:latin typeface="Calibri"/>
              </a:rPr>
              <a:t>Sistema de Conversión de Facturas con 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Spring Boot 4  ·  Vaadin 25  ·  Claude Vision API  ·  PostgreSQL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931920"/>
            <a:ext cx="11064240" cy="25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1148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Agustín Scuotri   |   Marzo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937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B82F6"/>
                </a:solidFill>
                <a:latin typeface="Calibri"/>
              </a:rPr>
              <a:t>¿Preguntas?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